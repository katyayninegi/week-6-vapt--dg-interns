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4C8C6-C43B-4D5C-B4E0-20C223CC865C}" v="2" dt="2026-10-11T15:16:45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yayni Negi" userId="731c6a5416a7f622" providerId="LiveId" clId="{CA2A9D33-29F9-4EE7-A262-EC0A7367B2C5}"/>
    <pc:docChg chg="undo custSel modSld">
      <pc:chgData name="Katyayni Negi" userId="731c6a5416a7f622" providerId="LiveId" clId="{CA2A9D33-29F9-4EE7-A262-EC0A7367B2C5}" dt="2026-10-11T15:21:04.803" v="82" actId="2711"/>
      <pc:docMkLst>
        <pc:docMk/>
      </pc:docMkLst>
      <pc:sldChg chg="modSp mod">
        <pc:chgData name="Katyayni Negi" userId="731c6a5416a7f622" providerId="LiveId" clId="{CA2A9D33-29F9-4EE7-A262-EC0A7367B2C5}" dt="2026-10-11T15:12:38.871" v="5" actId="2711"/>
        <pc:sldMkLst>
          <pc:docMk/>
          <pc:sldMk cId="0" sldId="256"/>
        </pc:sldMkLst>
        <pc:spChg chg="mod">
          <ac:chgData name="Katyayni Negi" userId="731c6a5416a7f622" providerId="LiveId" clId="{CA2A9D33-29F9-4EE7-A262-EC0A7367B2C5}" dt="2026-10-11T15:12:31.986" v="4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2:38.871" v="5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2:06.532" v="0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2:22.721" v="3" actId="2711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Katyayni Negi" userId="731c6a5416a7f622" providerId="LiveId" clId="{CA2A9D33-29F9-4EE7-A262-EC0A7367B2C5}" dt="2026-10-11T15:15:50.817" v="33" actId="2711"/>
        <pc:sldMkLst>
          <pc:docMk/>
          <pc:sldMk cId="0" sldId="257"/>
        </pc:sldMkLst>
        <pc:spChg chg="mod">
          <ac:chgData name="Katyayni Negi" userId="731c6a5416a7f622" providerId="LiveId" clId="{CA2A9D33-29F9-4EE7-A262-EC0A7367B2C5}" dt="2026-10-11T15:15:24.835" v="29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4:36.094" v="19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4:42.627" v="20" actId="271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4:56.537" v="23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5:06.653" v="25" actId="271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5:33.091" v="30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5:39.912" v="31" actId="271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5:45.840" v="32" actId="271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5:50.817" v="33" actId="2711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Katyayni Negi" userId="731c6a5416a7f622" providerId="LiveId" clId="{CA2A9D33-29F9-4EE7-A262-EC0A7367B2C5}" dt="2026-10-11T15:17:17.483" v="48" actId="2711"/>
        <pc:sldMkLst>
          <pc:docMk/>
          <pc:sldMk cId="0" sldId="258"/>
        </pc:sldMkLst>
        <pc:spChg chg="mod">
          <ac:chgData name="Katyayni Negi" userId="731c6a5416a7f622" providerId="LiveId" clId="{CA2A9D33-29F9-4EE7-A262-EC0A7367B2C5}" dt="2026-10-11T15:16:27.870" v="38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6:02.270" v="34" actId="2711"/>
          <ac:spMkLst>
            <pc:docMk/>
            <pc:sldMk cId="0" sldId="258"/>
            <ac:spMk id="15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6:08.942" v="35" actId="2711"/>
          <ac:spMkLst>
            <pc:docMk/>
            <pc:sldMk cId="0" sldId="258"/>
            <ac:spMk id="16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6:19.531" v="37" actId="2711"/>
          <ac:spMkLst>
            <pc:docMk/>
            <pc:sldMk cId="0" sldId="258"/>
            <ac:spMk id="17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6:14.099" v="36" actId="2711"/>
          <ac:spMkLst>
            <pc:docMk/>
            <pc:sldMk cId="0" sldId="258"/>
            <ac:spMk id="18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7:06.004" v="46" actId="2711"/>
          <ac:spMkLst>
            <pc:docMk/>
            <pc:sldMk cId="0" sldId="258"/>
            <ac:spMk id="19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6:54.669" v="45" actId="2711"/>
          <ac:spMkLst>
            <pc:docMk/>
            <pc:sldMk cId="0" sldId="258"/>
            <ac:spMk id="20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7:12.656" v="47" actId="2711"/>
          <ac:spMkLst>
            <pc:docMk/>
            <pc:sldMk cId="0" sldId="258"/>
            <ac:spMk id="21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7:17.483" v="48" actId="2711"/>
          <ac:spMkLst>
            <pc:docMk/>
            <pc:sldMk cId="0" sldId="258"/>
            <ac:spMk id="22" creationId="{00000000-0000-0000-0000-000000000000}"/>
          </ac:spMkLst>
        </pc:spChg>
      </pc:sldChg>
      <pc:sldChg chg="modSp mod">
        <pc:chgData name="Katyayni Negi" userId="731c6a5416a7f622" providerId="LiveId" clId="{CA2A9D33-29F9-4EE7-A262-EC0A7367B2C5}" dt="2026-10-11T15:14:07.416" v="17" actId="2711"/>
        <pc:sldMkLst>
          <pc:docMk/>
          <pc:sldMk cId="0" sldId="259"/>
        </pc:sldMkLst>
        <pc:spChg chg="mod">
          <ac:chgData name="Katyayni Negi" userId="731c6a5416a7f622" providerId="LiveId" clId="{CA2A9D33-29F9-4EE7-A262-EC0A7367B2C5}" dt="2026-10-11T15:12:52.144" v="7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2:48.912" v="6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3:13.701" v="10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3:25.227" v="11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3:49.612" v="15" actId="27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3:39.114" v="13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3:58.088" v="16" actId="271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4:07.416" v="17" actId="2711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Katyayni Negi" userId="731c6a5416a7f622" providerId="LiveId" clId="{CA2A9D33-29F9-4EE7-A262-EC0A7367B2C5}" dt="2026-10-11T15:18:02.884" v="55" actId="2711"/>
        <pc:sldMkLst>
          <pc:docMk/>
          <pc:sldMk cId="0" sldId="260"/>
        </pc:sldMkLst>
        <pc:spChg chg="mod">
          <ac:chgData name="Katyayni Negi" userId="731c6a5416a7f622" providerId="LiveId" clId="{CA2A9D33-29F9-4EE7-A262-EC0A7367B2C5}" dt="2026-10-11T15:17:31.909" v="50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7:38.159" v="51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7:50.817" v="53" actId="2711"/>
          <ac:spMkLst>
            <pc:docMk/>
            <pc:sldMk cId="0" sldId="260"/>
            <ac:spMk id="9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7:55.985" v="54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8:02.884" v="55" actId="2711"/>
          <ac:spMkLst>
            <pc:docMk/>
            <pc:sldMk cId="0" sldId="260"/>
            <ac:spMk id="11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7:45.651" v="52" actId="2711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Katyayni Negi" userId="731c6a5416a7f622" providerId="LiveId" clId="{CA2A9D33-29F9-4EE7-A262-EC0A7367B2C5}" dt="2026-10-11T15:18:35.980" v="61" actId="2711"/>
        <pc:sldMkLst>
          <pc:docMk/>
          <pc:sldMk cId="0" sldId="261"/>
        </pc:sldMkLst>
        <pc:spChg chg="mod">
          <ac:chgData name="Katyayni Negi" userId="731c6a5416a7f622" providerId="LiveId" clId="{CA2A9D33-29F9-4EE7-A262-EC0A7367B2C5}" dt="2026-10-11T15:18:22.476" v="58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8:11.741" v="56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8:16.902" v="57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8:28.184" v="59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8:35.980" v="61" actId="2711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Katyayni Negi" userId="731c6a5416a7f622" providerId="LiveId" clId="{CA2A9D33-29F9-4EE7-A262-EC0A7367B2C5}" dt="2026-10-11T15:19:14.935" v="66" actId="2711"/>
        <pc:sldMkLst>
          <pc:docMk/>
          <pc:sldMk cId="0" sldId="262"/>
        </pc:sldMkLst>
        <pc:spChg chg="mod">
          <ac:chgData name="Katyayni Negi" userId="731c6a5416a7f622" providerId="LiveId" clId="{CA2A9D33-29F9-4EE7-A262-EC0A7367B2C5}" dt="2026-10-11T15:18:45.466" v="62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8:51.025" v="63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8:56.122" v="64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9:06.003" v="65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19:14.935" v="66" actId="2711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Katyayni Negi" userId="731c6a5416a7f622" providerId="LiveId" clId="{CA2A9D33-29F9-4EE7-A262-EC0A7367B2C5}" dt="2026-10-11T15:19:44.076" v="70" actId="2711"/>
        <pc:sldMkLst>
          <pc:docMk/>
          <pc:sldMk cId="0" sldId="263"/>
        </pc:sldMkLst>
        <pc:spChg chg="mod">
          <ac:chgData name="Katyayni Negi" userId="731c6a5416a7f622" providerId="LiveId" clId="{CA2A9D33-29F9-4EE7-A262-EC0A7367B2C5}" dt="2026-10-11T15:19:44.076" v="70" actId="2711"/>
          <ac:spMkLst>
            <pc:docMk/>
            <pc:sldMk cId="0" sldId="263"/>
            <ac:spMk id="3" creationId="{00000000-0000-0000-0000-000000000000}"/>
          </ac:spMkLst>
        </pc:spChg>
        <pc:graphicFrameChg chg="modGraphic">
          <ac:chgData name="Katyayni Negi" userId="731c6a5416a7f622" providerId="LiveId" clId="{CA2A9D33-29F9-4EE7-A262-EC0A7367B2C5}" dt="2026-10-11T15:19:35.748" v="68" actId="2711"/>
          <ac:graphicFrameMkLst>
            <pc:docMk/>
            <pc:sldMk cId="0" sldId="263"/>
            <ac:graphicFrameMk id="2" creationId="{00000000-0000-0000-0000-000000000000}"/>
          </ac:graphicFrameMkLst>
        </pc:graphicFrameChg>
      </pc:sldChg>
      <pc:sldChg chg="modSp mod">
        <pc:chgData name="Katyayni Negi" userId="731c6a5416a7f622" providerId="LiveId" clId="{CA2A9D33-29F9-4EE7-A262-EC0A7367B2C5}" dt="2026-10-11T15:20:30.256" v="77" actId="2711"/>
        <pc:sldMkLst>
          <pc:docMk/>
          <pc:sldMk cId="0" sldId="264"/>
        </pc:sldMkLst>
        <pc:spChg chg="mod">
          <ac:chgData name="Katyayni Negi" userId="731c6a5416a7f622" providerId="LiveId" clId="{CA2A9D33-29F9-4EE7-A262-EC0A7367B2C5}" dt="2026-10-11T15:20:03.394" v="72" actId="2711"/>
          <ac:spMkLst>
            <pc:docMk/>
            <pc:sldMk cId="0" sldId="264"/>
            <ac:spMk id="6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0:09.081" v="73" actId="2711"/>
          <ac:spMkLst>
            <pc:docMk/>
            <pc:sldMk cId="0" sldId="264"/>
            <ac:spMk id="7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0:20.194" v="75" actId="2711"/>
          <ac:spMkLst>
            <pc:docMk/>
            <pc:sldMk cId="0" sldId="264"/>
            <ac:spMk id="8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0:13.722" v="74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0:26.064" v="76" actId="271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0:30.256" v="77" actId="2711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Katyayni Negi" userId="731c6a5416a7f622" providerId="LiveId" clId="{CA2A9D33-29F9-4EE7-A262-EC0A7367B2C5}" dt="2026-10-11T15:21:04.803" v="82" actId="2711"/>
        <pc:sldMkLst>
          <pc:docMk/>
          <pc:sldMk cId="0" sldId="265"/>
        </pc:sldMkLst>
        <pc:spChg chg="mod">
          <ac:chgData name="Katyayni Negi" userId="731c6a5416a7f622" providerId="LiveId" clId="{CA2A9D33-29F9-4EE7-A262-EC0A7367B2C5}" dt="2026-10-11T15:20:39.265" v="78" actId="2711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0:46.513" v="79" actId="2711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0:55.927" v="80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1:00.843" v="81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atyayni Negi" userId="731c6a5416a7f622" providerId="LiveId" clId="{CA2A9D33-29F9-4EE7-A262-EC0A7367B2C5}" dt="2026-10-11T15:21:04.803" v="82" actId="2711"/>
          <ac:spMkLst>
            <pc:docMk/>
            <pc:sldMk cId="0" sldId="265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84164"/>
            <a:ext cx="1047750" cy="1047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60364"/>
            <a:ext cx="895350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198614"/>
            <a:ext cx="9601200" cy="52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 dirty="0">
                <a:solidFill>
                  <a:srgbClr val="F8FAFC"/>
                </a:solidFill>
                <a:latin typeface="+mj-lt"/>
              </a:rPr>
              <a:t>Web Security &amp; Vulnerability Assessment (VAPT)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402335"/>
            <a:ext cx="7715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+mj-lt"/>
              </a:rPr>
              <a:t>Hands-on security testing, OWASP Top 10 analysis, and exploitation using DVWA, Burp Suite, and OWASP ZAP.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4550" y="2184201"/>
            <a:ext cx="312361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+mj-lt"/>
              </a:rPr>
              <a:t>DG INTERNS HUB • CYBER SECURITY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4550" y="2445067"/>
            <a:ext cx="382046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+mj-lt"/>
              </a:rPr>
              <a:t>Prepared by: Katyayni Negi | Submission Date: 14th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53125" y="2676525"/>
            <a:ext cx="5476875" cy="2181225"/>
          </a:xfrm>
          <a:prstGeom prst="roundRect">
            <a:avLst>
              <a:gd name="adj" fmla="val 6986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494657"/>
            <a:ext cx="4848225" cy="1186755"/>
          </a:xfrm>
          <a:prstGeom prst="roundRect">
            <a:avLst>
              <a:gd name="adj" fmla="val 9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852862"/>
            <a:ext cx="4848225" cy="1186755"/>
          </a:xfrm>
          <a:prstGeom prst="roundRect">
            <a:avLst>
              <a:gd name="adj" fmla="val 9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3395662"/>
            <a:ext cx="161925" cy="161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3719512"/>
            <a:ext cx="161925" cy="161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4043362"/>
            <a:ext cx="161925" cy="161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4367212"/>
            <a:ext cx="161925" cy="161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1. Introduction to VAPT &amp;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8412" y="3011154"/>
            <a:ext cx="1310359" cy="2423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 dirty="0">
                <a:solidFill>
                  <a:srgbClr val="0F172A"/>
                </a:solidFill>
                <a:latin typeface="+mj-lt"/>
              </a:rPr>
              <a:t>Core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2713732"/>
            <a:ext cx="1901483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Vulnerability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009007"/>
            <a:ext cx="4505325" cy="21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Automated discovery of known security flaws and missing patches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4111342"/>
            <a:ext cx="1463093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756" y="4362448"/>
            <a:ext cx="4505325" cy="21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Active exploitation to evaluate real-world impact and business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75" y="3357089"/>
            <a:ext cx="2458815" cy="196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+mj-lt"/>
              </a:rPr>
              <a:t>Master OWASP Top 10 vulnerabilities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3702371"/>
            <a:ext cx="2474908" cy="196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+mj-lt"/>
              </a:rPr>
              <a:t>Configure Burp Suite, ZAP, and DVWA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4026221"/>
            <a:ext cx="2318327" cy="196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+mj-lt"/>
              </a:rPr>
              <a:t>Execute controlled manual exploits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4340085"/>
            <a:ext cx="2442464" cy="1962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+mj-lt"/>
              </a:rPr>
              <a:t>Establish robust mitigation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36502"/>
            <a:ext cx="2495550" cy="2061120"/>
          </a:xfrm>
          <a:prstGeom prst="roundRect">
            <a:avLst>
              <a:gd name="adj" fmla="val 5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2736502"/>
            <a:ext cx="2495550" cy="2061120"/>
          </a:xfrm>
          <a:prstGeom prst="roundRect">
            <a:avLst>
              <a:gd name="adj" fmla="val 5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36502"/>
            <a:ext cx="2495550" cy="2061120"/>
          </a:xfrm>
          <a:prstGeom prst="roundRect">
            <a:avLst>
              <a:gd name="adj" fmla="val 55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34450" y="2849909"/>
            <a:ext cx="2495550" cy="1834455"/>
          </a:xfrm>
          <a:prstGeom prst="roundRect">
            <a:avLst>
              <a:gd name="adj" fmla="val 6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2993677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325" y="2993677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5" y="2993677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625" y="3107084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10797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812" y="3107977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107977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2112" y="3221384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2. OWASP Top 10 Study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3546127"/>
            <a:ext cx="995465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SQL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3860452"/>
            <a:ext cx="207645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 err="1">
                <a:solidFill>
                  <a:srgbClr val="475569"/>
                </a:solidFill>
                <a:latin typeface="+mj-lt"/>
              </a:rPr>
              <a:t>Unsanitised</a:t>
            </a:r>
            <a:r>
              <a:rPr sz="1275" b="0" i="0" u="none" dirty="0">
                <a:solidFill>
                  <a:srgbClr val="475569"/>
                </a:solidFill>
                <a:latin typeface="+mj-lt"/>
              </a:rPr>
              <a:t> input manipulation allowing database compromise.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3325" y="3546127"/>
            <a:ext cx="1448730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+mj-lt"/>
              </a:rPr>
              <a:t>Cross-Site Scripting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3325" y="3860452"/>
            <a:ext cx="207645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+mj-lt"/>
              </a:rPr>
              <a:t>Client-side execution of injected malicious scripts in sessions.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546127"/>
            <a:ext cx="948145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Broken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3860452"/>
            <a:ext cx="2076450" cy="447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0" i="0" u="none" dirty="0">
                <a:solidFill>
                  <a:srgbClr val="475569"/>
                </a:solidFill>
                <a:latin typeface="+mj-lt"/>
              </a:rPr>
              <a:t>Weak passwords, session flaws, and missing rate-limiting.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1625" y="3659534"/>
            <a:ext cx="1361398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Misconfigurations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973859"/>
            <a:ext cx="207645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Default credentials and missing security headers.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6961" y="2211951"/>
            <a:ext cx="4792794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1" y="3324225"/>
            <a:ext cx="4792794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514850"/>
            <a:ext cx="4792795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1388883"/>
            <a:ext cx="6417392" cy="4489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3883114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+mj-lt"/>
              </a:rPr>
              <a:t>3. Tools &amp; Lab Setup (DVWA)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333625"/>
            <a:ext cx="162012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+mj-lt"/>
              </a:rPr>
              <a:t>Burp Suite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590800"/>
            <a:ext cx="47339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+mj-lt"/>
              </a:rPr>
              <a:t>Man-in-the-middle proxy for traffic interception and repeater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477395"/>
            <a:ext cx="8574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+mj-lt"/>
              </a:rPr>
              <a:t>OWASP ZAP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1" y="3705225"/>
            <a:ext cx="47339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+mj-lt"/>
              </a:rPr>
              <a:t>Automated DAST scanner for rapid discovery and alert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714875"/>
            <a:ext cx="125726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+mj-lt"/>
              </a:rPr>
              <a:t>DVWA on XAMPP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972050"/>
            <a:ext cx="372909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+mj-lt"/>
              </a:rPr>
              <a:t>Deliberately vulnerable PHP/MySQL web app hosted locally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6844CC0-B07F-D1D6-1670-3222F7C32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105" y="1515243"/>
            <a:ext cx="6148418" cy="42370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88865"/>
            <a:ext cx="5038725" cy="960090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720405"/>
            <a:ext cx="5038725" cy="1186755"/>
          </a:xfrm>
          <a:prstGeom prst="roundRect">
            <a:avLst>
              <a:gd name="adj" fmla="val 9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86250" y="3093690"/>
            <a:ext cx="1183183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1747836"/>
            <a:ext cx="5782904" cy="4289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517" y="506155"/>
            <a:ext cx="5028364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+mj-lt"/>
              </a:rPr>
              <a:t>4. Vulnerability Testing: SQL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2807940"/>
            <a:ext cx="1362745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Test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103215"/>
            <a:ext cx="2877326" cy="2162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Tested User ID field in DVWA with payload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939480"/>
            <a:ext cx="1237070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+mj-lt"/>
              </a:rPr>
              <a:t>Observed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4234755"/>
            <a:ext cx="4695825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Application returned confidential details for all registered database users instantly.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112740"/>
            <a:ext cx="666849" cy="2162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' OR '1'='1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989DB8-53EB-C1C1-57D6-25ED8A6F5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325" y="1934100"/>
            <a:ext cx="5685503" cy="3916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1" y="2475607"/>
            <a:ext cx="4914900" cy="1186755"/>
          </a:xfrm>
          <a:prstGeom prst="roundRect">
            <a:avLst>
              <a:gd name="adj" fmla="val 9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1" y="3833812"/>
            <a:ext cx="4914900" cy="1186755"/>
          </a:xfrm>
          <a:prstGeom prst="roundRect">
            <a:avLst>
              <a:gd name="adj" fmla="val 9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697" y="991213"/>
            <a:ext cx="6184489" cy="56848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6560450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+mj-lt"/>
              </a:rPr>
              <a:t>5. Vulnerability Testing: XSS (Reflected &amp; Stored)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2694682"/>
            <a:ext cx="1025858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+mj-lt"/>
              </a:rPr>
              <a:t>Reflected XSS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2989957"/>
            <a:ext cx="4695825" cy="21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Injected script into name parameter, triggering immediate popup alert.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4052887"/>
            <a:ext cx="1792478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Stored XSS (Guestbook)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4348162"/>
            <a:ext cx="4695825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Persisted malicious script in DB, executing automatically for every visitor.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FDBE45-C6F6-98E7-FFA9-E7C032E85A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470"/>
          <a:stretch>
            <a:fillRect/>
          </a:stretch>
        </p:blipFill>
        <p:spPr>
          <a:xfrm>
            <a:off x="5895973" y="1078243"/>
            <a:ext cx="5951897" cy="2584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8FA438-C360-571C-6891-F373F9F57E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572"/>
          <a:stretch>
            <a:fillRect/>
          </a:stretch>
        </p:blipFill>
        <p:spPr>
          <a:xfrm>
            <a:off x="5936993" y="3765877"/>
            <a:ext cx="5951896" cy="2688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75607"/>
            <a:ext cx="5038725" cy="1186755"/>
          </a:xfrm>
          <a:prstGeom prst="roundRect">
            <a:avLst>
              <a:gd name="adj" fmla="val 9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833812"/>
            <a:ext cx="5038725" cy="1186755"/>
          </a:xfrm>
          <a:prstGeom prst="roundRect">
            <a:avLst>
              <a:gd name="adj" fmla="val 9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1651818"/>
            <a:ext cx="5286375" cy="42278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6720622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+mj-lt"/>
              </a:rPr>
              <a:t>6. Automated Scanning: OWASP ZAP &amp; Burp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2694682"/>
            <a:ext cx="1560171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Spider &amp; Active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2989957"/>
            <a:ext cx="4695825" cy="216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Crawled all endpoints and systematically probed parameters for flaws.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4052887"/>
            <a:ext cx="1602939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Key Alerts 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4348162"/>
            <a:ext cx="4695825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Identified missing CSP headers, missing Anti-CSRF tokens, and version leakage.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270FDD-BC39-FFC2-CC24-346E9E588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77" y="1807672"/>
            <a:ext cx="5134760" cy="39434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6348"/>
              </p:ext>
            </p:extLst>
          </p:nvPr>
        </p:nvGraphicFramePr>
        <p:xfrm>
          <a:off x="678426" y="2676525"/>
          <a:ext cx="10751572" cy="2105025"/>
        </p:xfrm>
        <a:graphic>
          <a:graphicData uri="http://schemas.openxmlformats.org/drawingml/2006/table">
            <a:tbl>
              <a:tblPr/>
              <a:tblGrid>
                <a:gridCol w="4366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2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+mj-lt"/>
                        </a:rPr>
                        <a:t>Vulnerability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+mj-lt"/>
                        </a:rPr>
                        <a:t>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+mj-lt"/>
                        </a:rPr>
                        <a:t>Risk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+mj-lt"/>
                        </a:rPr>
                        <a:t>CVSS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334155"/>
                          </a:solidFill>
                          <a:latin typeface="+mj-lt"/>
                        </a:rPr>
                        <a:t>SQL Injection (Low Sec)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+mj-lt"/>
                        </a:rPr>
                        <a:t>DVWA SQL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+mj-lt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+mj-lt"/>
                        </a:rPr>
                        <a:t>9.8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+mj-lt"/>
                        </a:rPr>
                        <a:t>Stored XSS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+mj-lt"/>
                        </a:rPr>
                        <a:t>DVWA Guestbook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A580C"/>
                          </a:solidFill>
                          <a:latin typeface="+mj-lt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+mj-lt"/>
                        </a:rPr>
                        <a:t>8.0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+mj-lt"/>
                        </a:rPr>
                        <a:t>Reflected XSS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+mj-lt"/>
                        </a:rPr>
                        <a:t>DVWA XSS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A580C"/>
                          </a:solidFill>
                          <a:latin typeface="+mj-lt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+mj-lt"/>
                        </a:rPr>
                        <a:t>7.2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+mj-lt"/>
                        </a:rPr>
                        <a:t>Security Misconfiguration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+mj-lt"/>
                        </a:rPr>
                        <a:t>Server Headers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+mj-lt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+mj-lt"/>
                        </a:rPr>
                        <a:t>5.8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8426" y="533400"/>
            <a:ext cx="5171287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+mj-lt"/>
              </a:rPr>
              <a:t>7. Summary of Findings &amp; Risk Ratings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116609"/>
            <a:ext cx="3403550" cy="1301055"/>
          </a:xfrm>
          <a:prstGeom prst="roundRect">
            <a:avLst>
              <a:gd name="adj" fmla="val 87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3116609"/>
            <a:ext cx="3403550" cy="1301055"/>
          </a:xfrm>
          <a:prstGeom prst="roundRect">
            <a:avLst>
              <a:gd name="adj" fmla="val 87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3003202"/>
            <a:ext cx="3403550" cy="1527720"/>
          </a:xfrm>
          <a:prstGeom prst="roundRect">
            <a:avLst>
              <a:gd name="adj" fmla="val 74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8. Mitigation &amp; Security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3383309"/>
            <a:ext cx="1726370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0F172A"/>
                </a:solidFill>
                <a:latin typeface="+mj-lt"/>
              </a:rPr>
              <a:t>Parameterized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175" y="3707159"/>
            <a:ext cx="298445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Prevent SQL injection by separating code from user-supplied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1325" y="3373784"/>
            <a:ext cx="1863780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+mj-lt"/>
              </a:rPr>
              <a:t>Context-Aware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1325" y="3707159"/>
            <a:ext cx="298445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 err="1">
                <a:solidFill>
                  <a:srgbClr val="475569"/>
                </a:solidFill>
                <a:latin typeface="+mj-lt"/>
              </a:rPr>
              <a:t>Neutralise</a:t>
            </a:r>
            <a:r>
              <a:rPr sz="1275" b="0" i="0" u="none" dirty="0">
                <a:solidFill>
                  <a:srgbClr val="475569"/>
                </a:solidFill>
                <a:latin typeface="+mj-lt"/>
              </a:rPr>
              <a:t> XSS by escaping output before rendering in browser contexts.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3475" y="3260377"/>
            <a:ext cx="1769074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+mj-lt"/>
              </a:rPr>
              <a:t>Security Headers &amp; CSP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3475" y="3593752"/>
            <a:ext cx="2984450" cy="447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 dirty="0">
                <a:solidFill>
                  <a:srgbClr val="475569"/>
                </a:solidFill>
                <a:latin typeface="+mj-lt"/>
              </a:rPr>
              <a:t>Deploy strict CSP, HSTS, and X-Frame-Options to mitigate browser exploits.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09887" y="4452937"/>
            <a:ext cx="1685925" cy="51435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86312" y="4452937"/>
            <a:ext cx="2047875" cy="51435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24687" y="4452937"/>
            <a:ext cx="2257425" cy="51435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90712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08121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012" y="4633912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437" y="4633912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812" y="4633912"/>
            <a:ext cx="1714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58070" y="2919412"/>
            <a:ext cx="547585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F8FAFC"/>
                </a:solidFill>
                <a:latin typeface="+mj-lt"/>
              </a:rPr>
              <a:t>Conclusion &amp; GitHub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1156" y="3576637"/>
            <a:ext cx="89296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+mj-lt"/>
              </a:rPr>
              <a:t>Successfully completed VAPT lab exercise, documented findings, and prepared all artifacts for GitHub repository upload.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7746" y="4605337"/>
            <a:ext cx="16502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E2E8F0"/>
                </a:solidFill>
                <a:latin typeface="+mj-lt"/>
              </a:rPr>
              <a:t>Report (PDF)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928" y="4605337"/>
            <a:ext cx="210264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E2E8F0"/>
                </a:solidFill>
                <a:latin typeface="+mj-lt"/>
              </a:rPr>
              <a:t>Presentation (PPT)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1109" y="4605337"/>
            <a:ext cx="236458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E2E8F0"/>
                </a:solidFill>
                <a:latin typeface="+mj-lt"/>
              </a:rPr>
              <a:t>Screenshots &amp;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436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Space Grotesk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Katyayni</dc:creator>
  <cp:keywords/>
  <dc:description>generated using python-pptx</dc:description>
  <cp:lastModifiedBy>Katyayni Negi</cp:lastModifiedBy>
  <cp:revision>2</cp:revision>
  <dcterms:created xsi:type="dcterms:W3CDTF">2013-01-27T09:14:16Z</dcterms:created>
  <dcterms:modified xsi:type="dcterms:W3CDTF">2026-10-11T15:21:05Z</dcterms:modified>
  <cp:category/>
</cp:coreProperties>
</file>